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906100" cy="6857986"/>
  <p:notesSz cx="6857986" cy="99061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798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50"/>
            <a:ext cx="2377440" cy="1920236"/>
          </a:xfrm>
          <a:prstGeom prst="rect">
            <a:avLst/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1720" y="0"/>
            <a:ext cx="73152" cy="6857986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502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" y="8595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4592" y="1280160"/>
            <a:ext cx="1920240" cy="0"/>
          </a:xfrm>
          <a:prstGeom prst="line">
            <a:avLst/>
          </a:prstGeom>
          <a:noFill/>
          <a:ln w="12700">
            <a:solidFill>
              <a:srgbClr val="1B8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전략기획 분석 도구 포털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5006330"/>
            <a:ext cx="1920240" cy="0"/>
          </a:xfrm>
          <a:prstGeom prst="line">
            <a:avLst/>
          </a:prstGeom>
          <a:noFill/>
          <a:ln w="6350">
            <a:solidFill>
              <a:srgbClr val="1B8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507491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8BA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Intel v2.0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" y="541780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2026. 5. 14.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594360"/>
            <a:ext cx="1463040" cy="292608"/>
          </a:xfrm>
          <a:prstGeom prst="rect">
            <a:avLst/>
          </a:prstGeom>
          <a:solidFill>
            <a:srgbClr val="E8F5F3"/>
          </a:solidFill>
          <a:ln w="6350">
            <a:solidFill>
              <a:srgbClr val="1B8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594360"/>
            <a:ext cx="45720" cy="292608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594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분석 보고서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005840"/>
            <a:ext cx="69343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대형트럭 도입의 핵심 장벽은 초기비용보다 그리드 접근성과 운영 통합의 시스템 과제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651760" y="2331720"/>
            <a:ext cx="693430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468880"/>
            <a:ext cx="6934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 : Lux Research - Voice_of_Industry_Unmet_needs_in_hea - May 12, 2026 (c…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2788920"/>
            <a:ext cx="693430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2926080"/>
            <a:ext cx="3398570" cy="658368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2926080"/>
            <a:ext cx="45720" cy="658368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2962656"/>
            <a:ext cx="32705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일자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61488" y="3108960"/>
            <a:ext cx="3270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2026. 5. 14.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61488" y="3273552"/>
            <a:ext cx="32705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유형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61488" y="3419856"/>
            <a:ext cx="3270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애널리스트 리포트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87490" y="2926080"/>
            <a:ext cx="3398570" cy="658368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7490" y="2926080"/>
            <a:ext cx="45720" cy="658368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7218" y="2962656"/>
            <a:ext cx="32705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깊이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7218" y="3108960"/>
            <a:ext cx="3270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분석 (섹션별 + 인사이트)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7218" y="3273552"/>
            <a:ext cx="32705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97218" y="3419856"/>
            <a:ext cx="32705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Lux Research - Voice_of_Ind…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3712464"/>
            <a:ext cx="6934300" cy="713232"/>
          </a:xfrm>
          <a:prstGeom prst="rect">
            <a:avLst/>
          </a:prstGeom>
          <a:solidFill>
            <a:srgbClr val="F0FAF8"/>
          </a:solidFill>
          <a:ln w="6350">
            <a:solidFill>
              <a:srgbClr val="1B8A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3712464"/>
            <a:ext cx="45720" cy="713232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61488" y="3749040"/>
            <a:ext cx="6806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61488" y="3931920"/>
            <a:ext cx="68062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대형트럭 도입의 핵심 장벽은 초기비용보다 그리드 접근성과 운영 통합의 시스템 과제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6291058"/>
            <a:ext cx="1920240" cy="310896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629105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6100" cy="81359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224"/>
            <a:ext cx="1280160" cy="667151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224"/>
            <a:ext cx="1280160" cy="28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E8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53427"/>
            <a:ext cx="1280160" cy="386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0"/>
            <a:ext cx="7985860" cy="813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23326"/>
            <a:ext cx="9357460" cy="658368"/>
          </a:xfrm>
          <a:prstGeom prst="rect">
            <a:avLst/>
          </a:prstGeom>
          <a:solidFill>
            <a:srgbClr val="E8F5F3"/>
          </a:solidFill>
          <a:ln w="6350">
            <a:solidFill>
              <a:srgbClr val="1B8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23326"/>
            <a:ext cx="89917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대형트럭 도입의 핵심 장벽은 초기비용보다 그리드 접근성과 운영 통합의 시스템 과제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691422"/>
            <a:ext cx="3046001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422"/>
            <a:ext cx="30460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9FE1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독일 내 배전사업자 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84030"/>
            <a:ext cx="3046001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84030"/>
            <a:ext cx="304600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800개 이상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30049" y="1691422"/>
            <a:ext cx="3046001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0049" y="1691422"/>
            <a:ext cx="30460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9FE1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그리드 연결 허가 소요기간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30049" y="1984030"/>
            <a:ext cx="3046001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0049" y="1984030"/>
            <a:ext cx="304600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12~24개월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5779" y="1691422"/>
            <a:ext cx="3046001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5779" y="1691422"/>
            <a:ext cx="30460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9FE1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물류업체 계약 기간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5779" y="1984030"/>
            <a:ext cx="3046001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5779" y="1984030"/>
            <a:ext cx="304600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연단위 (1년 기준)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2514382"/>
            <a:ext cx="329184" cy="1332044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514382"/>
            <a:ext cx="329184" cy="133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" y="2514382"/>
            <a:ext cx="9028276" cy="1332044"/>
          </a:xfrm>
          <a:prstGeom prst="rect">
            <a:avLst/>
          </a:prstGeom>
          <a:solidFill>
            <a:srgbClr val="F0FAF8"/>
          </a:solidFill>
          <a:ln w="6350">
            <a:solidFill>
              <a:srgbClr val="1B8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2569246"/>
            <a:ext cx="880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비용보다 예측가능성 부재가 실질적 장벽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" y="2806990"/>
            <a:ext cx="8808820" cy="984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전기트럭 TCO는 특정 조건에서 경쟁력 있으나, 실제 운영에서는 조건 보장 불가능. 배터리 성능저하·잔존가치·충전비용 변동성에 대한 가시성 부…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910434"/>
            <a:ext cx="329184" cy="1332044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10434"/>
            <a:ext cx="329184" cy="133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" y="3910434"/>
            <a:ext cx="9028276" cy="1332044"/>
          </a:xfrm>
          <a:prstGeom prst="rect">
            <a:avLst/>
          </a:prstGeom>
          <a:solidFill>
            <a:srgbClr val="F0FAF8"/>
          </a:solidFill>
          <a:ln w="6350">
            <a:solidFill>
              <a:srgbClr val="1B8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965298"/>
            <a:ext cx="880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그리드 접근성이 스케일업의 최대 병목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" y="4203042"/>
            <a:ext cx="8808820" cy="984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독일만 800개 이상 배전사업자 존재, 표준화된 프로세스 부재. 허가까지 12~24개월 소요. 고출력 충전 가능 여부·연결 시점·비용 사전 파…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5306486"/>
            <a:ext cx="329184" cy="13320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5306486"/>
            <a:ext cx="329184" cy="133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" y="5306486"/>
            <a:ext cx="9028276" cy="1332044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361350"/>
            <a:ext cx="880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운영모델 재설계 필수, 디젤 대체 불가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3232" y="5599094"/>
            <a:ext cx="8808820" cy="984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전기트럭은 1:1 디젤 대체 불가능. 노선·충전·자산관리 전면 재설계 필요하며, 현재 단거리/거점 중심 운영으로 제한됨. 디젤 대비 유연성 부…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6601954"/>
            <a:ext cx="69342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Battery Intel | Powered by Claude API | 내부 배포용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66020" y="660195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6100" cy="81359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224"/>
            <a:ext cx="1280160" cy="667151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224"/>
            <a:ext cx="1280160" cy="28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E8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53427"/>
            <a:ext cx="1280160" cy="386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인사이트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0"/>
            <a:ext cx="7985860" cy="813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인사이트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23326"/>
            <a:ext cx="384048" cy="1332789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23326"/>
            <a:ext cx="384048" cy="1332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923326"/>
            <a:ext cx="8973412" cy="1332789"/>
          </a:xfrm>
          <a:prstGeom prst="rect">
            <a:avLst/>
          </a:prstGeom>
          <a:solidFill>
            <a:srgbClr val="F0FAF8"/>
          </a:solidFill>
          <a:ln w="6350">
            <a:solidFill>
              <a:srgbClr val="1B8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20300" y="996478"/>
            <a:ext cx="475488" cy="201168"/>
          </a:xfrm>
          <a:prstGeom prst="rect">
            <a:avLst/>
          </a:prstGeom>
          <a:solidFill>
            <a:srgbClr val="E8F5F3"/>
          </a:solidFill>
          <a:ln w="6350">
            <a:solidFill>
              <a:srgbClr val="1B8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20300" y="99647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987334"/>
            <a:ext cx="826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비용보다 예측가능성 부재가 실질적 장벽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261654"/>
            <a:ext cx="8717380" cy="93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전기트럭 TCO는 특정 조건에서 경쟁력 있으나, 실제 운영에서는 조건 보장 불가능. 배터리 성능저하·잔존가치·충전비용 변동성에 대한 가시성 부족으로 ROI 예측 불가능이 도입 지연의 핵심 원인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20123"/>
            <a:ext cx="384048" cy="1332789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20123"/>
            <a:ext cx="384048" cy="1332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2320123"/>
            <a:ext cx="8973412" cy="1332789"/>
          </a:xfrm>
          <a:prstGeom prst="rect">
            <a:avLst/>
          </a:prstGeom>
          <a:solidFill>
            <a:srgbClr val="F0FAF8"/>
          </a:solidFill>
          <a:ln w="6350">
            <a:solidFill>
              <a:srgbClr val="1B8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20300" y="2393275"/>
            <a:ext cx="475488" cy="201168"/>
          </a:xfrm>
          <a:prstGeom prst="rect">
            <a:avLst/>
          </a:prstGeom>
          <a:solidFill>
            <a:srgbClr val="E8F5F3"/>
          </a:solidFill>
          <a:ln w="6350">
            <a:solidFill>
              <a:srgbClr val="1B8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20300" y="2393275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384131"/>
            <a:ext cx="826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그리드 접근성이 스케일업의 최대 병목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658451"/>
            <a:ext cx="8717380" cy="93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독일만 800개 이상 배전사업자 존재, 표준화된 프로세스 부재. 허가까지 12~24개월 소요. 고출력 충전 가능 여부·연결 시점·비용 사전 파악 불가능해 투자계획 수립 곤란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16920"/>
            <a:ext cx="384048" cy="1332789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16920"/>
            <a:ext cx="384048" cy="1332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3716920"/>
            <a:ext cx="8973412" cy="1332789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780928"/>
            <a:ext cx="826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운영모델 재설계 필수, 디젤 대체 불가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055248"/>
            <a:ext cx="8717380" cy="93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전기트럭은 1:1 디젤 대체 불가능. 노선·충전·자산관리 전면 재설계 필요하며, 현재 단거리/거점 중심 운영으로 제한됨. 디젤 대비 유연성 부족으로 수요변동 대응력 저하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5113717"/>
            <a:ext cx="384048" cy="1332789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5113717"/>
            <a:ext cx="384048" cy="1332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8368" y="5113717"/>
            <a:ext cx="8973412" cy="1332789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177725"/>
            <a:ext cx="826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자본력 보유 사업자 중심 초기 시장 형성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5452045"/>
            <a:ext cx="8717380" cy="93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흡수 가능한 대형 운영사가 초기 전기화 주도 전망. 일부 사업자는 'Electric Transport as a Service' 통합 모델 시도 예상. 단, 고정노선 외 확장 시 자본집약도 상승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6601954"/>
            <a:ext cx="69342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Battery Intel | Powered by Claude API | 내부 배포용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66020" y="660195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6100" cy="81359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224"/>
            <a:ext cx="1280160" cy="667151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224"/>
            <a:ext cx="1280160" cy="28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E8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53427"/>
            <a:ext cx="1280160" cy="386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데이터·리스크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0"/>
            <a:ext cx="7985860" cy="813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수치 및 리스크 요인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23326"/>
            <a:ext cx="454157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23326"/>
            <a:ext cx="22707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45105" y="923326"/>
            <a:ext cx="22707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 / 내용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52510"/>
            <a:ext cx="4541570" cy="1314501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5105" y="1252510"/>
            <a:ext cx="0" cy="1314501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52510"/>
            <a:ext cx="2179345" cy="1314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독일 내 배전사업자 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36545" y="1252510"/>
            <a:ext cx="2179345" cy="1314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800개 이상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67011"/>
            <a:ext cx="4541570" cy="1314501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5105" y="2567011"/>
            <a:ext cx="0" cy="1314501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67011"/>
            <a:ext cx="2179345" cy="1314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그리드 연결 허가 소요기간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36545" y="2567011"/>
            <a:ext cx="2179345" cy="1314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12~24개월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881512"/>
            <a:ext cx="4541570" cy="1314501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45105" y="3881512"/>
            <a:ext cx="0" cy="1314501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81512"/>
            <a:ext cx="2179345" cy="1314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물류업체 계약 기간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36545" y="3881512"/>
            <a:ext cx="2179345" cy="1314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연단위 (1년 기준)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5196013"/>
            <a:ext cx="4541570" cy="1314501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45105" y="5196013"/>
            <a:ext cx="0" cy="1314501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196013"/>
            <a:ext cx="2179345" cy="1314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제약 조건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36545" y="5196013"/>
            <a:ext cx="2179345" cy="1314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3~4개 이상 승인기관 협의 필요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90210" y="923326"/>
            <a:ext cx="454157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1650" y="923326"/>
            <a:ext cx="44501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요인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90210" y="1252510"/>
            <a:ext cx="4541570" cy="1314501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81650" y="1781745"/>
            <a:ext cx="475488" cy="256032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81650" y="1781745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48578" y="1307374"/>
            <a:ext cx="3791762" cy="120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그리드 연결 지연 및 비용 불확실성으로 충전인프라 투자 지연 → 전기트럭 보급 정체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90210" y="2567011"/>
            <a:ext cx="4541570" cy="1314501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81650" y="3096246"/>
            <a:ext cx="475488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1650" y="309624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48578" y="2621875"/>
            <a:ext cx="3791762" cy="120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물류계약 단기화 지속 시 장기 자산투자 회수 불가능 → 사업성 악화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90210" y="3881512"/>
            <a:ext cx="4541570" cy="1314501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81650" y="4410747"/>
            <a:ext cx="475488" cy="256032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1650" y="4410747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48578" y="3936376"/>
            <a:ext cx="3791762" cy="120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성능저하·잔존가치 예측 실패 시 TCO 악화로 전기화 신뢰도 하락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90210" y="5196013"/>
            <a:ext cx="4541570" cy="1314501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81650" y="5725248"/>
            <a:ext cx="475488" cy="256032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81650" y="57252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48578" y="5250877"/>
            <a:ext cx="3791762" cy="1204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 공공충전 정책이 그리드·운영 통합 미해결로 스케일업 한계 노출 가능성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" y="6601954"/>
            <a:ext cx="69342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Battery Intel | Powered by Claude API | 내부 배포용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266020" y="660195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6100" cy="81359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73224"/>
            <a:ext cx="1280160" cy="667151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224"/>
            <a:ext cx="1280160" cy="28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E8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353427"/>
            <a:ext cx="1280160" cy="386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액션아이템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0"/>
            <a:ext cx="7985860" cy="813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 및 액션 아이템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23326"/>
            <a:ext cx="384048" cy="881522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23326"/>
            <a:ext cx="384048" cy="88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923326"/>
            <a:ext cx="8973412" cy="88152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923326"/>
            <a:ext cx="8763100" cy="88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전기트럭 도입 시 물류계약 장기화(5년 이상) 및 노선 안정성 확보 전략 수립 필요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78001"/>
            <a:ext cx="384048" cy="881522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78001"/>
            <a:ext cx="384048" cy="88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1878001"/>
            <a:ext cx="8973412" cy="88152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878001"/>
            <a:ext cx="8763100" cy="88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충전인프라 구축 전 그리드 연결 가능성·비용·일정 사전 확인 프로세스 정립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832675"/>
            <a:ext cx="384048" cy="881522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32675"/>
            <a:ext cx="384048" cy="88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2832675"/>
            <a:ext cx="8973412" cy="88152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832675"/>
            <a:ext cx="8763100" cy="88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2차전지 기업은 성능저하 예측모델, 잔존가치 보증 등 예측가능성 제고 솔루션 개발 검토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787350"/>
            <a:ext cx="384048" cy="881522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87350"/>
            <a:ext cx="384048" cy="88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" y="3787350"/>
            <a:ext cx="8973412" cy="88152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787350"/>
            <a:ext cx="8763100" cy="88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유틸리티와의 사전 협의 및 표준화된 그리드 접근 프로세스 구축 참여 고려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742024"/>
            <a:ext cx="384048" cy="881522"/>
          </a:xfrm>
          <a:prstGeom prst="rect">
            <a:avLst/>
          </a:prstGeom>
          <a:solidFill>
            <a:srgbClr val="1B8A7A"/>
          </a:solidFill>
          <a:ln w="12700">
            <a:solidFill>
              <a:srgbClr val="1B8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42024"/>
            <a:ext cx="384048" cy="88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4742024"/>
            <a:ext cx="8973412" cy="881522"/>
          </a:xfrm>
          <a:prstGeom prst="rect">
            <a:avLst/>
          </a:prstGeom>
          <a:solidFill>
            <a:srgbClr val="F8F9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42024"/>
            <a:ext cx="8763100" cy="88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단거리 거점 중심 초기 시장에서 검증 후 장거리·복합노선 확장 로드맵 수립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5879578"/>
            <a:ext cx="9357460" cy="685800"/>
          </a:xfrm>
          <a:prstGeom prst="rect">
            <a:avLst/>
          </a:prstGeom>
          <a:solidFill>
            <a:srgbClr val="E8F5F3"/>
          </a:solidFill>
          <a:ln w="6350">
            <a:solidFill>
              <a:srgbClr val="1B8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5934442"/>
            <a:ext cx="91745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1B8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키워드 관련 내용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6172186"/>
            <a:ext cx="91745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대형트럭, 전기차 충전인프라, 그리드 연결, TCO, 배터리 성능저하, 잔존가치, 물류 운영모델, 유틸리티, 배전사업자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6601954"/>
            <a:ext cx="69342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Battery Intel | Powered by Claude API | 내부 배포용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66020" y="660195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-70" kern="1200" dirty="0">
                <a:ln w="3175">
                  <a:solidFill>
                    <a:srgbClr val="000000">
                      <a:alpha val="10000"/>
                    </a:srgbClr>
                  </a:solidFill>
                </a:ln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2026-05-14T13:53:53Z</dcterms:created>
  <dcterms:modified xsi:type="dcterms:W3CDTF">2026-05-14T13:53:53Z</dcterms:modified>
</cp:coreProperties>
</file>